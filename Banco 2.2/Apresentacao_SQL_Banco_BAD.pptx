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078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DE4A3-FC56-8A5F-D639-EDB7E10C8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E525D-A50B-565B-2081-9BECB4E43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2FB88-8BC6-026A-EFB6-635B80E0F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45B7D-E93D-65AF-4A32-BA6609B297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99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 com erros:</a:t>
            </a:r>
            <a:endParaRPr lang="pt-BR" sz="3200" noProof="0" dirty="0"/>
          </a:p>
          <a:p>
            <a:pPr marL="0" indent="0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quebrado ao funcional</a:t>
            </a:r>
            <a:endParaRPr lang="pt-BR" sz="3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(T-SQL) · Banco PJ (futebol) · Erros encontrados e corrigidos</a:t>
            </a:r>
            <a:endParaRPr lang="pt-BR" sz="14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Thales</a:t>
            </a:r>
            <a:endParaRPr lang="pt-BR" sz="13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2057400" y="23774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e para que serve o banco</a:t>
            </a:r>
            <a:endParaRPr lang="pt-BR" sz="14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</a:t>
            </a:r>
            <a:endParaRPr lang="pt-BR" sz="13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8346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 Jogador e Clube</a:t>
            </a:r>
            <a:endParaRPr lang="pt-BR" sz="14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</a:t>
            </a:r>
            <a:endParaRPr lang="pt-BR" sz="13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32918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e IDENTITY e tabela Estadio</a:t>
            </a:r>
            <a:endParaRPr lang="pt-BR" sz="14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</a:t>
            </a:r>
            <a:endParaRPr lang="pt-BR" sz="13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7490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Partida e relação entre as tabelas</a:t>
            </a:r>
            <a:endParaRPr lang="pt-BR" sz="14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</a:t>
            </a:r>
            <a:endParaRPr lang="pt-BR" sz="13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42062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Campeonato, banco funcionando e conclusão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serve o banco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Thales</a:t>
            </a:r>
            <a:endParaRPr lang="pt-BR" sz="1300" noProof="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505647"/>
              </p:ext>
            </p:extLst>
          </p:nvPr>
        </p:nvGraphicFramePr>
        <p:xfrm>
          <a:off x="457200" y="1097280"/>
          <a:ext cx="493776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Tabela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guarda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Campeonato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competições (times, rodadas, rebaixados)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Clube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times (nome, fundação, estádio)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Estadio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locais dos jogos (cidade, capacidade)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Jogador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atletas (camisa, altura, pé preferido)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Partida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jogo (data, árbitro, gols)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conectam</a:t>
            </a:r>
            <a:endParaRPr lang="pt-BR" sz="1500" noProof="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5087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campeonato tem vários clubes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clube tem um estádio e vários jogadores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partida liga dois clubes dentro de um campeonato</a:t>
            </a:r>
            <a:endParaRPr lang="pt-BR" sz="1500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0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do Brasileirão: Série A e Série B</a:t>
            </a:r>
            <a:endParaRPr lang="pt-BR" sz="15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Jogador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</a:t>
            </a:r>
            <a:endParaRPr lang="pt-BR" sz="1300" noProof="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889653"/>
              </p:ext>
            </p:extLst>
          </p:nvPr>
        </p:nvGraphicFramePr>
        <p:xfrm>
          <a:off x="457200" y="1051560"/>
          <a:ext cx="8229600" cy="35783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--CREATE DATABASE PJ;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DATABASE PJ;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Criação do banco estava comentada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 TABLE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 de digitação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IdJogador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PRIMARY KEY IDENTITY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IdJogador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KEY IDENTITY(1,1),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tipo, (1,1) e a vírgula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 não fechado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VARCHAR((10)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VARCHAR(10)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 sobrando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)  (sem ponto e vírgula)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);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 não terminado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</a:t>
                      </a: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(linha removida)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solta entre os comandos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Clube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</a:t>
            </a:r>
            <a:endParaRPr lang="pt-BR" sz="1300" noProof="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458973"/>
              </p:ext>
            </p:extLst>
          </p:nvPr>
        </p:nvGraphicFramePr>
        <p:xfrm>
          <a:off x="457200" y="1051560"/>
          <a:ext cx="822960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TALE (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Clube (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escrito errado e sem nome da tabela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IDENTITY,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KEY IDENTITY(1,1),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Faltavam KEY e o (1,1)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VARCHAR('20')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Aspas no tamanho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Nacao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o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Nacao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Letra solta: nome de coluna com espaço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VARCHAR(20000000000000000000000000000000000000000000)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VARCHAR(30)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Tamanho absurdo (máx. 8000 ou MAX)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tabela guarda os </a:t>
            </a:r>
            <a:r>
              <a:rPr lang="pt-BR" sz="1300" i="1" noProof="0" dirty="0" err="1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</a:t>
            </a:r>
            <a:r>
              <a:rPr lang="pt-BR" sz="1300" i="1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Campeonato, Estadio e Afiliado.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e IDENTITY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</a:t>
            </a:r>
            <a:endParaRPr lang="pt-BR" sz="13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1F3F7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IdJogador</a:t>
            </a: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PRIMARY KEY IDENTITY(1,1)</a:t>
            </a:r>
            <a:endParaRPr lang="pt-BR" sz="12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(chave primária)</a:t>
            </a:r>
            <a:endParaRPr lang="pt-BR" sz="15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cada linha de forma única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pode repetir nem ficar vazia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duas palavras juntas: PRIMARY KEY</a:t>
            </a:r>
            <a:endParaRPr lang="pt-BR" sz="15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IDENTITY(1,1) (autoincremento)</a:t>
            </a:r>
            <a:endParaRPr lang="pt-BR" sz="15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3317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SQL Server gera o valor sozinho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1: valor inicial. Segundo 1: de quanto em quanto aumenta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Sequência: 1, 2, 3...</a:t>
            </a:r>
            <a:endParaRPr lang="pt-BR" sz="15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0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deixa a coluna aceitar vazio. -- comenta o resto da linha.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Estadio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</a:t>
            </a:r>
            <a:endParaRPr lang="pt-BR" sz="1300" noProof="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603424"/>
              </p:ext>
            </p:extLst>
          </p:nvPr>
        </p:nvGraphicFramePr>
        <p:xfrm>
          <a:off x="457200" y="105156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IdEstadio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KEY IDENTITY,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IdEstadio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KEY IDENTITY(1,1),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PRIMARY e o (1,1)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 VARCHAR(-60)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 VARCHAR(60)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Tamanho negativo não existe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004378" y="4686300"/>
            <a:ext cx="2083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 do script no SQL</a:t>
            </a:r>
          </a:p>
          <a:p>
            <a:pPr marL="0" indent="0">
              <a:buNone/>
            </a:pPr>
            <a:endParaRPr lang="pt-BR" sz="1300" noProof="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5F6FB45-0412-6CBE-C70D-9F40368EFBB5}"/>
              </a:ext>
            </a:extLst>
          </p:cNvPr>
          <p:cNvSpPr txBox="1"/>
          <p:nvPr/>
        </p:nvSpPr>
        <p:spPr>
          <a:xfrm>
            <a:off x="2560883" y="2863700"/>
            <a:ext cx="3344450" cy="1683560"/>
          </a:xfrm>
          <a:prstGeom prst="rect">
            <a:avLst/>
          </a:prstGeom>
          <a:solidFill>
            <a:srgbClr val="FDECEA"/>
          </a:solidFill>
          <a:ln w="19050">
            <a:solidFill>
              <a:srgbClr val="D9534F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 aqui o print</a:t>
            </a:r>
            <a:endParaRPr lang="pt-BR" sz="1600" noProof="0" dirty="0"/>
          </a:p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mensagens de erro</a:t>
            </a:r>
            <a:endParaRPr lang="pt-BR" sz="1600" noProof="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153D0B4-A727-893B-28A2-E9D6ED54C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269" y="2897124"/>
            <a:ext cx="3221695" cy="1650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Partida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</a:t>
            </a:r>
            <a:endParaRPr lang="pt-BR" sz="1300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671955"/>
              </p:ext>
            </p:extLst>
          </p:nvPr>
        </p:nvGraphicFramePr>
        <p:xfrm>
          <a:off x="457200" y="105156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Estadio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Partida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 repetido: Estadio já existia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IdClubeCasa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CREATE,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IdClubeCasa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solta no meio da coluna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GolsCasa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INT, </a:t>
                      </a: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GolsCasa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GolsCasa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INT, </a:t>
                      </a: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GolsFora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Coluna duplicada: nome repetido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''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(linha removida)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Aspas soltas entre os comandos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corrigir o nome, o erro de 'tabela já existe' some.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entre as tabelas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</a:t>
            </a:r>
            <a:endParaRPr lang="pt-BR" sz="13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Colunas como </a:t>
            </a:r>
            <a:r>
              <a:rPr lang="pt-BR" sz="1500" noProof="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IdClube</a:t>
            </a: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500" noProof="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IdEstadio</a:t>
            </a: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guardam o Id de outra tabela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FOREIGN KEY garante que esse Id existe na tabela de origem</a:t>
            </a:r>
            <a:endParaRPr lang="pt-BR" sz="15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estrangeira (dentro do CREATE TABLE)</a:t>
            </a:r>
            <a:endParaRPr lang="pt-BR" sz="15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solidFill>
            <a:srgbClr val="F1F3F7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IdClube</a:t>
            </a: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INT,</a:t>
            </a:r>
            <a:endParaRPr lang="pt-BR" sz="1200" noProof="0" dirty="0"/>
          </a:p>
          <a:p>
            <a:pPr marL="0" indent="0">
              <a:buNone/>
            </a:pP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</a:t>
            </a:r>
            <a:r>
              <a:rPr lang="pt-BR" sz="1200" noProof="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FK_Jogador_Clube</a:t>
            </a: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FOREIGN KEY (</a:t>
            </a:r>
            <a:r>
              <a:rPr lang="pt-BR" sz="1200" noProof="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IdClube</a:t>
            </a: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REFERENCES Clube(</a:t>
            </a:r>
            <a:r>
              <a:rPr lang="pt-BR" sz="1200" noProof="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IdClube</a:t>
            </a: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pt-BR" sz="12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Conferindo os dados</a:t>
            </a:r>
            <a:endParaRPr lang="pt-BR" sz="15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11880"/>
            <a:ext cx="8229600" cy="685800"/>
          </a:xfrm>
          <a:prstGeom prst="rect">
            <a:avLst/>
          </a:prstGeom>
          <a:solidFill>
            <a:srgbClr val="F1F3F7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Clube;</a:t>
            </a:r>
            <a:endParaRPr lang="pt-BR" sz="1200" noProof="0" dirty="0"/>
          </a:p>
          <a:p>
            <a:pPr marL="0" indent="0">
              <a:buNone/>
            </a:pP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Partida;</a:t>
            </a:r>
            <a:endParaRPr lang="pt-BR" sz="12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8F0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noProof="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Auto-relações</a:t>
            </a:r>
            <a:r>
              <a:rPr lang="pt-BR" sz="1200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pt-BR" sz="1200" noProof="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IdAfiliado</a:t>
            </a:r>
            <a:r>
              <a:rPr lang="pt-BR" sz="1200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(clube parceiro) e </a:t>
            </a:r>
            <a:r>
              <a:rPr lang="pt-BR" sz="1200" noProof="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IdSuperior</a:t>
            </a:r>
            <a:r>
              <a:rPr lang="pt-BR" sz="1200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pt-BR" sz="1200" noProof="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IdInferior</a:t>
            </a:r>
            <a:r>
              <a:rPr lang="pt-BR" sz="1200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(divisões)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Campeonato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</a:t>
            </a:r>
            <a:endParaRPr lang="pt-BR" sz="13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536630"/>
              </p:ext>
            </p:extLst>
          </p:nvPr>
        </p:nvGraphicFramePr>
        <p:xfrm>
          <a:off x="457200" y="1051560"/>
          <a:ext cx="8229600" cy="2331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IdCampeonato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KEY,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IdCampeonato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KEY IDENTITY(1,1),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IDENTITY; Partida e Clube usam esse ID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NumeroTimes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INT(8;),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NumeroTimes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 possui tamanho fixo e não recebe tamanho -&gt; erro de sintaxe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Rodadas INT </a:t>
                      </a: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Rodadas INT,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escrito duas vezes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E0E2F0EB-470C-C75A-D055-4CD83A614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639" y="3453099"/>
            <a:ext cx="3125350" cy="1535472"/>
          </a:xfrm>
          <a:prstGeom prst="rect">
            <a:avLst/>
          </a:prstGeom>
          <a:ln w="15875">
            <a:solidFill>
              <a:srgbClr val="7030A0"/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A9ADABB-8F6A-1743-C602-05D49428C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00" y="3834729"/>
            <a:ext cx="3496163" cy="514422"/>
          </a:xfrm>
          <a:prstGeom prst="rect">
            <a:avLst/>
          </a:prstGeom>
          <a:ln w="15875">
            <a:solidFill>
              <a:srgbClr val="7030A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Erros: quantidades e categorias</a:t>
            </a:r>
          </a:p>
        </p:txBody>
      </p:sp>
      <p:sp>
        <p:nvSpPr>
          <p:cNvPr id="3" name="Autor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</a:t>
            </a:r>
          </a:p>
        </p:txBody>
      </p:sp>
      <p:graphicFrame>
        <p:nvGraphicFramePr>
          <p:cNvPr id="4" name="Tabela err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976328"/>
              </p:ext>
            </p:extLst>
          </p:nvPr>
        </p:nvGraphicFramePr>
        <p:xfrm>
          <a:off x="457200" y="1025179"/>
          <a:ext cx="8229600" cy="3497502"/>
        </p:xfrm>
        <a:graphic>
          <a:graphicData uri="http://schemas.openxmlformats.org/drawingml/2006/table">
            <a:tbl>
              <a:tblPr/>
              <a:tblGrid>
                <a:gridCol w="2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7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Categoria</a:t>
                      </a:r>
                      <a:endParaRPr lang="pt-BR" sz="14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Qtd.</a:t>
                      </a:r>
                      <a:endParaRPr lang="pt-BR" sz="14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Exemplo do erro</a:t>
                      </a:r>
                      <a:endParaRPr lang="pt-BR" sz="14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7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Pontuação (sintaxe)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VARCHAR(20, · VARCHAR((10) · VARCHAR('20') · INT(8;)</a:t>
                      </a:r>
                      <a:endParaRPr lang="pt-BR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7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 de palavra (sintaxe)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PRIMARY IDENTITY · INT KEY IDENTITY</a:t>
                      </a:r>
                      <a:endParaRPr lang="pt-BR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7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Palavras soltas (sintaxe)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CREATE · INT CREATE · '' · Nacao o</a:t>
                      </a:r>
                      <a:endParaRPr lang="pt-BR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7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Digitação (sintaxe)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 TABLE · CREATE TALE · INT </a:t>
                      </a:r>
                      <a:r>
                        <a:rPr lang="pt-BR" sz="1100" b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pt-BR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4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Valores inválidos (sintaxe)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VARCHAR(-60) · VARCHAR(200000000000000000000000...)</a:t>
                      </a:r>
                      <a:endParaRPr lang="pt-BR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4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Nomes repetidos (semântico)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Estadio 2x · GolsCasa 2x</a:t>
                      </a:r>
                      <a:endParaRPr lang="pt-BR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4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 comentado (“sintaxe”)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b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--CREATE DATABASE PJ;</a:t>
                      </a:r>
                      <a:endParaRPr lang="pt-BR" sz="11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7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pt-BR" sz="1300" dirty="0"/>
                    </a:p>
                  </a:txBody>
                  <a:tcPr marT="36000" marB="36000" anchor="ctr">
                    <a:lnL w="9525" cap="flat" cmpd="sng" algn="ctr">
                      <a:solidFill>
                        <a:srgbClr val="D5D9E0"/>
                      </a:solidFill>
                      <a:prstDash val="soli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Resumo"/>
          <p:cNvSpPr txBox="1"/>
          <p:nvPr/>
        </p:nvSpPr>
        <p:spPr>
          <a:xfrm>
            <a:off x="457200" y="4633460"/>
            <a:ext cx="8229600" cy="380000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erros em 7 categorias: quase todos são de sintaxe simples, e pontuação é o mais comum (6 de 23)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e depois no SQL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</a:t>
            </a:r>
            <a:endParaRPr lang="pt-BR" sz="13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Antes: script original</a:t>
            </a:r>
            <a:endParaRPr lang="pt-BR" sz="15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886403" y="79195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Depois: script corrigido</a:t>
            </a:r>
            <a:endParaRPr lang="pt-BR" sz="15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32148" y="1143000"/>
            <a:ext cx="3931920" cy="3629416"/>
          </a:xfrm>
          <a:prstGeom prst="rect">
            <a:avLst/>
          </a:prstGeom>
          <a:solidFill>
            <a:srgbClr val="FDECEA"/>
          </a:solidFill>
          <a:ln w="19050">
            <a:solidFill>
              <a:srgbClr val="D9534F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 aqui o print</a:t>
            </a:r>
            <a:endParaRPr lang="pt-BR" sz="1600" noProof="0" dirty="0"/>
          </a:p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mensagens de erro</a:t>
            </a:r>
            <a:endParaRPr lang="pt-BR" sz="16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143000"/>
            <a:ext cx="4132336" cy="3629416"/>
          </a:xfrm>
          <a:prstGeom prst="rect">
            <a:avLst/>
          </a:prstGeom>
          <a:solidFill>
            <a:srgbClr val="E8F5E9"/>
          </a:solidFill>
          <a:ln w="19050">
            <a:solidFill>
              <a:srgbClr val="3C9A5F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 aqui o print</a:t>
            </a:r>
            <a:endParaRPr lang="pt-BR" sz="1600" noProof="0" dirty="0"/>
          </a:p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script rodando sem erro</a:t>
            </a:r>
            <a:endParaRPr lang="pt-BR" sz="1600" noProof="0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0F551E9F-04B4-3998-C3E2-311569624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038" y="1201246"/>
            <a:ext cx="4045144" cy="1234966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5BE05BC8-BACA-FD26-0928-AC20E714F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79" y="2494458"/>
            <a:ext cx="4045144" cy="227795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A704D323-907B-2ED9-3C6B-5316E4ACA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78559"/>
            <a:ext cx="3832964" cy="2796306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E858345-6D13-BF38-A704-3A12371DB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39" y="4043052"/>
            <a:ext cx="2888653" cy="661177"/>
          </a:xfrm>
          <a:prstGeom prst="rect">
            <a:avLst/>
          </a:prstGeom>
          <a:ln>
            <a:solidFill>
              <a:srgbClr val="C00000"/>
            </a:solidFill>
          </a:ln>
          <a:effectLst>
            <a:softEdge rad="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funcionando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</a:t>
            </a:r>
            <a:endParaRPr lang="pt-BR" sz="13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executamos</a:t>
            </a:r>
            <a:endParaRPr lang="pt-BR" sz="15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o SQL Server Management Studio</a:t>
            </a:r>
            <a:endParaRPr lang="pt-BR" sz="1400" noProof="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Importar Banco e executar (F5)</a:t>
            </a:r>
            <a:endParaRPr lang="pt-BR" sz="1400" noProof="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banco PJ é criado do zero (CREATE DATABASE)</a:t>
            </a:r>
            <a:endParaRPr lang="pt-BR" sz="1400" noProof="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5 tabelas são criadas já com as chaves estrangeiras</a:t>
            </a:r>
            <a:endParaRPr lang="pt-BR" sz="1400" noProof="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Usamos </a:t>
            </a:r>
            <a:r>
              <a:rPr lang="pt-BR" sz="1400" noProof="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Inserts</a:t>
            </a: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teste</a:t>
            </a:r>
            <a:endParaRPr lang="pt-BR" sz="1400" noProof="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os valores com os SELECT no final do arquivo</a:t>
            </a:r>
            <a:endParaRPr lang="pt-BR" sz="14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5 tabelas, chaves estrangeiras e dados de teste.</a:t>
            </a:r>
            <a:endParaRPr lang="pt-BR" sz="1500" noProof="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71C59DF-4FE5-B3F2-D378-E3D8DC10A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428" y="1773296"/>
            <a:ext cx="3286584" cy="1254328"/>
          </a:xfrm>
          <a:prstGeom prst="rect">
            <a:avLst/>
          </a:prstGeom>
          <a:noFill/>
          <a:ln w="15875" cap="rnd">
            <a:solidFill>
              <a:srgbClr val="7030A0"/>
            </a:solidFill>
          </a:ln>
          <a:effectLst>
            <a:softEdge rad="1270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D613B2-C8C3-215B-BF1C-ACC4C3F1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7E4267-2D45-5080-17DD-29503CABF50D}"/>
              </a:ext>
            </a:extLst>
          </p:cNvPr>
          <p:cNvSpPr txBox="1"/>
          <p:nvPr/>
        </p:nvSpPr>
        <p:spPr>
          <a:xfrm>
            <a:off x="1726087" y="1879947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Muito Obrigado pela atenção!</a:t>
            </a:r>
            <a:endParaRPr lang="pt-BR" sz="3200" noProof="0" dirty="0"/>
          </a:p>
        </p:txBody>
      </p:sp>
    </p:spTree>
    <p:extLst>
      <p:ext uri="{BB962C8B-B14F-4D97-AF65-F5344CB8AC3E}">
        <p14:creationId xmlns:p14="http://schemas.microsoft.com/office/powerpoint/2010/main" val="418436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961</Words>
  <Application>Microsoft Office PowerPoint</Application>
  <PresentationFormat>Apresentação na tela (16:9)</PresentationFormat>
  <Paragraphs>208</Paragraphs>
  <Slides>13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vinicin</cp:lastModifiedBy>
  <cp:revision>32</cp:revision>
  <dcterms:created xsi:type="dcterms:W3CDTF">2026-10-06T13:52:14Z</dcterms:created>
  <dcterms:modified xsi:type="dcterms:W3CDTF">2026-10-13T19:30:53Z</dcterms:modified>
</cp:coreProperties>
</file>